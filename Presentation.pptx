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1pPr>
    <a:lvl2pPr indent="228600"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2pPr>
    <a:lvl3pPr indent="457200"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3pPr>
    <a:lvl4pPr indent="685800"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4pPr>
    <a:lvl5pPr indent="914400"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914400" y="2130425"/>
            <a:ext cx="10363200" cy="1470029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963084" y="4406903"/>
            <a:ext cx="10363201" cy="1362078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963084" y="2906713"/>
            <a:ext cx="10363201" cy="150019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609600" y="1535112"/>
            <a:ext cx="5386917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6193366" y="1535111"/>
            <a:ext cx="5389038" cy="639766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609601" y="273050"/>
            <a:ext cx="4011087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609600" y="1435103"/>
            <a:ext cx="4011088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2389714" y="4800600"/>
            <a:ext cx="7315204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2389714" y="612775"/>
            <a:ext cx="7315204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2389714" y="5367337"/>
            <a:ext cx="7315204" cy="80486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308749" y="6404297"/>
            <a:ext cx="273652" cy="269237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.tif"/><Relationship Id="rId4" Type="http://schemas.openxmlformats.org/officeDocument/2006/relationships/image" Target="../media/image2.tif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.jpeg"/><Relationship Id="rId4" Type="http://schemas.openxmlformats.org/officeDocument/2006/relationships/image" Target="../media/image2.tif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.tif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2.tif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.tif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24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Freeform: Shape 26"/>
          <p:cNvSpPr/>
          <p:nvPr/>
        </p:nvSpPr>
        <p:spPr>
          <a:xfrm>
            <a:off x="5656780" y="851520"/>
            <a:ext cx="4638605" cy="51549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23" h="21600" fill="norm" stroke="1" extrusionOk="0">
                <a:moveTo>
                  <a:pt x="1264" y="13095"/>
                </a:moveTo>
                <a:cubicBezTo>
                  <a:pt x="1264" y="13095"/>
                  <a:pt x="1264" y="13095"/>
                  <a:pt x="3126" y="13095"/>
                </a:cubicBezTo>
                <a:cubicBezTo>
                  <a:pt x="3243" y="13095"/>
                  <a:pt x="3355" y="13172"/>
                  <a:pt x="3412" y="13298"/>
                </a:cubicBezTo>
                <a:cubicBezTo>
                  <a:pt x="3412" y="13298"/>
                  <a:pt x="3412" y="13298"/>
                  <a:pt x="4345" y="15232"/>
                </a:cubicBezTo>
                <a:cubicBezTo>
                  <a:pt x="4405" y="15353"/>
                  <a:pt x="4405" y="15507"/>
                  <a:pt x="4345" y="15628"/>
                </a:cubicBezTo>
                <a:cubicBezTo>
                  <a:pt x="4345" y="15628"/>
                  <a:pt x="4345" y="15628"/>
                  <a:pt x="3412" y="17563"/>
                </a:cubicBezTo>
                <a:cubicBezTo>
                  <a:pt x="3355" y="17688"/>
                  <a:pt x="3243" y="17765"/>
                  <a:pt x="3126" y="17765"/>
                </a:cubicBezTo>
                <a:cubicBezTo>
                  <a:pt x="3126" y="17765"/>
                  <a:pt x="3126" y="17765"/>
                  <a:pt x="1264" y="17765"/>
                </a:cubicBezTo>
                <a:cubicBezTo>
                  <a:pt x="1143" y="17765"/>
                  <a:pt x="1035" y="17688"/>
                  <a:pt x="974" y="17563"/>
                </a:cubicBezTo>
                <a:cubicBezTo>
                  <a:pt x="974" y="17563"/>
                  <a:pt x="974" y="17563"/>
                  <a:pt x="45" y="15628"/>
                </a:cubicBezTo>
                <a:cubicBezTo>
                  <a:pt x="-15" y="15507"/>
                  <a:pt x="-15" y="15353"/>
                  <a:pt x="45" y="15232"/>
                </a:cubicBezTo>
                <a:cubicBezTo>
                  <a:pt x="45" y="15232"/>
                  <a:pt x="45" y="15232"/>
                  <a:pt x="974" y="13298"/>
                </a:cubicBezTo>
                <a:cubicBezTo>
                  <a:pt x="1035" y="13172"/>
                  <a:pt x="1143" y="13095"/>
                  <a:pt x="1264" y="13095"/>
                </a:cubicBezTo>
                <a:close/>
                <a:moveTo>
                  <a:pt x="8664" y="2389"/>
                </a:moveTo>
                <a:cubicBezTo>
                  <a:pt x="8664" y="2389"/>
                  <a:pt x="8664" y="2389"/>
                  <a:pt x="9622" y="2389"/>
                </a:cubicBezTo>
                <a:lnTo>
                  <a:pt x="9733" y="2389"/>
                </a:lnTo>
                <a:lnTo>
                  <a:pt x="9840" y="2610"/>
                </a:lnTo>
                <a:cubicBezTo>
                  <a:pt x="9988" y="2917"/>
                  <a:pt x="10161" y="3275"/>
                  <a:pt x="10362" y="3692"/>
                </a:cubicBezTo>
                <a:cubicBezTo>
                  <a:pt x="10454" y="3877"/>
                  <a:pt x="10454" y="4113"/>
                  <a:pt x="10362" y="4298"/>
                </a:cubicBezTo>
                <a:cubicBezTo>
                  <a:pt x="10362" y="4298"/>
                  <a:pt x="10362" y="4298"/>
                  <a:pt x="8933" y="7261"/>
                </a:cubicBezTo>
                <a:cubicBezTo>
                  <a:pt x="8847" y="7453"/>
                  <a:pt x="8674" y="7571"/>
                  <a:pt x="8496" y="7571"/>
                </a:cubicBezTo>
                <a:cubicBezTo>
                  <a:pt x="8496" y="7571"/>
                  <a:pt x="8496" y="7571"/>
                  <a:pt x="5644" y="7571"/>
                </a:cubicBezTo>
                <a:cubicBezTo>
                  <a:pt x="5598" y="7571"/>
                  <a:pt x="5553" y="7564"/>
                  <a:pt x="5510" y="7550"/>
                </a:cubicBezTo>
                <a:lnTo>
                  <a:pt x="5417" y="7503"/>
                </a:lnTo>
                <a:lnTo>
                  <a:pt x="5474" y="7386"/>
                </a:lnTo>
                <a:cubicBezTo>
                  <a:pt x="5984" y="6323"/>
                  <a:pt x="6637" y="4963"/>
                  <a:pt x="7473" y="3222"/>
                </a:cubicBezTo>
                <a:cubicBezTo>
                  <a:pt x="7721" y="2706"/>
                  <a:pt x="8168" y="2389"/>
                  <a:pt x="8664" y="2389"/>
                </a:cubicBezTo>
                <a:close/>
                <a:moveTo>
                  <a:pt x="5475" y="0"/>
                </a:moveTo>
                <a:cubicBezTo>
                  <a:pt x="5475" y="0"/>
                  <a:pt x="5475" y="0"/>
                  <a:pt x="8692" y="0"/>
                </a:cubicBezTo>
                <a:cubicBezTo>
                  <a:pt x="8893" y="0"/>
                  <a:pt x="9088" y="133"/>
                  <a:pt x="9185" y="350"/>
                </a:cubicBezTo>
                <a:cubicBezTo>
                  <a:pt x="9185" y="350"/>
                  <a:pt x="9185" y="350"/>
                  <a:pt x="10050" y="2143"/>
                </a:cubicBezTo>
                <a:lnTo>
                  <a:pt x="10147" y="2345"/>
                </a:lnTo>
                <a:lnTo>
                  <a:pt x="9707" y="2345"/>
                </a:lnTo>
                <a:lnTo>
                  <a:pt x="9550" y="2018"/>
                </a:lnTo>
                <a:cubicBezTo>
                  <a:pt x="8947" y="768"/>
                  <a:pt x="8947" y="768"/>
                  <a:pt x="8947" y="768"/>
                </a:cubicBezTo>
                <a:cubicBezTo>
                  <a:pt x="8860" y="576"/>
                  <a:pt x="8688" y="458"/>
                  <a:pt x="8509" y="458"/>
                </a:cubicBezTo>
                <a:cubicBezTo>
                  <a:pt x="5658" y="458"/>
                  <a:pt x="5658" y="458"/>
                  <a:pt x="5658" y="458"/>
                </a:cubicBezTo>
                <a:cubicBezTo>
                  <a:pt x="5473" y="458"/>
                  <a:pt x="5306" y="576"/>
                  <a:pt x="5214" y="768"/>
                </a:cubicBezTo>
                <a:cubicBezTo>
                  <a:pt x="3791" y="3731"/>
                  <a:pt x="3791" y="3731"/>
                  <a:pt x="3791" y="3731"/>
                </a:cubicBezTo>
                <a:cubicBezTo>
                  <a:pt x="3699" y="3916"/>
                  <a:pt x="3699" y="4152"/>
                  <a:pt x="3791" y="4337"/>
                </a:cubicBezTo>
                <a:cubicBezTo>
                  <a:pt x="5214" y="7300"/>
                  <a:pt x="5214" y="7300"/>
                  <a:pt x="5214" y="7300"/>
                </a:cubicBezTo>
                <a:cubicBezTo>
                  <a:pt x="5260" y="7396"/>
                  <a:pt x="5325" y="7474"/>
                  <a:pt x="5401" y="7527"/>
                </a:cubicBezTo>
                <a:lnTo>
                  <a:pt x="5423" y="7538"/>
                </a:lnTo>
                <a:lnTo>
                  <a:pt x="5307" y="7780"/>
                </a:lnTo>
                <a:lnTo>
                  <a:pt x="5220" y="7960"/>
                </a:lnTo>
                <a:lnTo>
                  <a:pt x="5310" y="8005"/>
                </a:lnTo>
                <a:cubicBezTo>
                  <a:pt x="5358" y="8021"/>
                  <a:pt x="5409" y="8029"/>
                  <a:pt x="5461" y="8029"/>
                </a:cubicBezTo>
                <a:cubicBezTo>
                  <a:pt x="8678" y="8029"/>
                  <a:pt x="8678" y="8029"/>
                  <a:pt x="8678" y="8029"/>
                </a:cubicBezTo>
                <a:cubicBezTo>
                  <a:pt x="8880" y="8029"/>
                  <a:pt x="9074" y="7896"/>
                  <a:pt x="9172" y="7679"/>
                </a:cubicBezTo>
                <a:cubicBezTo>
                  <a:pt x="10783" y="4337"/>
                  <a:pt x="10783" y="4337"/>
                  <a:pt x="10783" y="4337"/>
                </a:cubicBezTo>
                <a:cubicBezTo>
                  <a:pt x="10888" y="4128"/>
                  <a:pt x="10888" y="3862"/>
                  <a:pt x="10783" y="3653"/>
                </a:cubicBezTo>
                <a:cubicBezTo>
                  <a:pt x="10582" y="3235"/>
                  <a:pt x="10406" y="2870"/>
                  <a:pt x="10251" y="2550"/>
                </a:cubicBezTo>
                <a:lnTo>
                  <a:pt x="10173" y="2389"/>
                </a:lnTo>
                <a:lnTo>
                  <a:pt x="10534" y="2389"/>
                </a:lnTo>
                <a:cubicBezTo>
                  <a:pt x="11656" y="2389"/>
                  <a:pt x="13452" y="2389"/>
                  <a:pt x="16324" y="2389"/>
                </a:cubicBezTo>
                <a:cubicBezTo>
                  <a:pt x="16804" y="2389"/>
                  <a:pt x="17267" y="2706"/>
                  <a:pt x="17499" y="3222"/>
                </a:cubicBezTo>
                <a:cubicBezTo>
                  <a:pt x="17499" y="3222"/>
                  <a:pt x="17499" y="3222"/>
                  <a:pt x="21337" y="11181"/>
                </a:cubicBezTo>
                <a:cubicBezTo>
                  <a:pt x="21585" y="11677"/>
                  <a:pt x="21585" y="12312"/>
                  <a:pt x="21337" y="12808"/>
                </a:cubicBezTo>
                <a:cubicBezTo>
                  <a:pt x="21337" y="12808"/>
                  <a:pt x="21337" y="12808"/>
                  <a:pt x="17499" y="20766"/>
                </a:cubicBezTo>
                <a:cubicBezTo>
                  <a:pt x="17267" y="21282"/>
                  <a:pt x="16804" y="21600"/>
                  <a:pt x="16324" y="21600"/>
                </a:cubicBezTo>
                <a:cubicBezTo>
                  <a:pt x="16324" y="21600"/>
                  <a:pt x="16324" y="21600"/>
                  <a:pt x="8664" y="21600"/>
                </a:cubicBezTo>
                <a:cubicBezTo>
                  <a:pt x="8168" y="21600"/>
                  <a:pt x="7721" y="21282"/>
                  <a:pt x="7473" y="20766"/>
                </a:cubicBezTo>
                <a:cubicBezTo>
                  <a:pt x="7473" y="20766"/>
                  <a:pt x="7473" y="20766"/>
                  <a:pt x="3651" y="12808"/>
                </a:cubicBezTo>
                <a:cubicBezTo>
                  <a:pt x="3403" y="12312"/>
                  <a:pt x="3403" y="11677"/>
                  <a:pt x="3651" y="11181"/>
                </a:cubicBezTo>
                <a:cubicBezTo>
                  <a:pt x="3651" y="11181"/>
                  <a:pt x="3651" y="11181"/>
                  <a:pt x="5070" y="8226"/>
                </a:cubicBezTo>
                <a:lnTo>
                  <a:pt x="5190" y="7976"/>
                </a:lnTo>
                <a:lnTo>
                  <a:pt x="5186" y="7974"/>
                </a:lnTo>
                <a:cubicBezTo>
                  <a:pt x="5100" y="7914"/>
                  <a:pt x="5027" y="7826"/>
                  <a:pt x="4975" y="7718"/>
                </a:cubicBezTo>
                <a:cubicBezTo>
                  <a:pt x="4975" y="7718"/>
                  <a:pt x="4975" y="7718"/>
                  <a:pt x="3370" y="4376"/>
                </a:cubicBezTo>
                <a:cubicBezTo>
                  <a:pt x="3266" y="4167"/>
                  <a:pt x="3266" y="3901"/>
                  <a:pt x="3370" y="3692"/>
                </a:cubicBezTo>
                <a:cubicBezTo>
                  <a:pt x="3370" y="3692"/>
                  <a:pt x="3370" y="3692"/>
                  <a:pt x="4975" y="350"/>
                </a:cubicBezTo>
                <a:cubicBezTo>
                  <a:pt x="5079" y="133"/>
                  <a:pt x="5267" y="0"/>
                  <a:pt x="5475" y="0"/>
                </a:cubicBezTo>
                <a:close/>
              </a:path>
            </a:pathLst>
          </a:custGeom>
          <a:solidFill>
            <a:srgbClr val="808080">
              <a:alpha val="15000"/>
            </a:srgbClr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96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0" t="0" r="59916" b="0"/>
          <a:stretch>
            <a:fillRect/>
          </a:stretch>
        </p:blipFill>
        <p:spPr>
          <a:xfrm>
            <a:off x="6854890" y="1715878"/>
            <a:ext cx="3203512" cy="3426242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Subtitle 3"/>
          <p:cNvSpPr txBox="1"/>
          <p:nvPr>
            <p:ph type="subTitle" sz="quarter" idx="1"/>
          </p:nvPr>
        </p:nvSpPr>
        <p:spPr>
          <a:xfrm>
            <a:off x="1245685" y="648612"/>
            <a:ext cx="8534401" cy="1752602"/>
          </a:xfrm>
          <a:prstGeom prst="rect">
            <a:avLst/>
          </a:prstGeom>
        </p:spPr>
        <p:txBody>
          <a:bodyPr/>
          <a:lstStyle/>
          <a:p>
            <a:pPr>
              <a:defRPr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>
              <a:defRPr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TITLE PAGE</a:t>
            </a:r>
          </a:p>
        </p:txBody>
      </p:sp>
      <p:sp>
        <p:nvSpPr>
          <p:cNvPr id="98" name="Title 7"/>
          <p:cNvSpPr txBox="1"/>
          <p:nvPr>
            <p:ph type="ctrTitle"/>
          </p:nvPr>
        </p:nvSpPr>
        <p:spPr>
          <a:xfrm>
            <a:off x="331286" y="-526757"/>
            <a:ext cx="10363201" cy="2076451"/>
          </a:xfrm>
          <a:prstGeom prst="rect">
            <a:avLst/>
          </a:prstGeom>
        </p:spPr>
        <p:txBody>
          <a:bodyPr/>
          <a:lstStyle>
            <a:lvl1pPr>
              <a:defRPr b="1" sz="4000">
                <a:solidFill>
                  <a:srgbClr val="1F497D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SMART INDIA HACKATHON 2026</a:t>
            </a:r>
          </a:p>
        </p:txBody>
      </p:sp>
      <p:sp>
        <p:nvSpPr>
          <p:cNvPr id="99" name="TextBox 9"/>
          <p:cNvSpPr txBox="1"/>
          <p:nvPr/>
        </p:nvSpPr>
        <p:spPr>
          <a:xfrm>
            <a:off x="377005" y="2076449"/>
            <a:ext cx="5833114" cy="42353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/>
          </a:p>
          <a:p>
            <a:pPr marL="285750" indent="-285750" algn="just">
              <a:lnSpc>
                <a:spcPct val="200000"/>
              </a:lnSpc>
              <a:buSzPct val="100000"/>
              <a:buFont typeface="Arial"/>
              <a:buChar char="•"/>
              <a:defRPr b="1" sz="2400">
                <a:latin typeface="Arial"/>
                <a:ea typeface="Arial"/>
                <a:cs typeface="Arial"/>
                <a:sym typeface="Arial"/>
              </a:defRPr>
            </a:pPr>
            <a:r>
              <a:t>Problem Statement ID –  </a:t>
            </a:r>
          </a:p>
          <a:p>
            <a:pPr marL="285750" indent="-285750" algn="just">
              <a:lnSpc>
                <a:spcPct val="200000"/>
              </a:lnSpc>
              <a:buSzPct val="100000"/>
              <a:buFont typeface="Arial"/>
              <a:buChar char="•"/>
              <a:defRPr b="1" sz="2400">
                <a:latin typeface="Arial"/>
                <a:ea typeface="Arial"/>
                <a:cs typeface="Arial"/>
                <a:sym typeface="Arial"/>
              </a:defRPr>
            </a:pPr>
            <a:r>
              <a:t>Problem Statement Title-</a:t>
            </a:r>
          </a:p>
          <a:p>
            <a:pPr marL="285750" indent="-285750" algn="just">
              <a:lnSpc>
                <a:spcPct val="200000"/>
              </a:lnSpc>
              <a:buSzPct val="100000"/>
              <a:buFont typeface="Arial"/>
              <a:buChar char="•"/>
              <a:defRPr b="1" sz="2400">
                <a:latin typeface="Arial"/>
                <a:ea typeface="Arial"/>
                <a:cs typeface="Arial"/>
                <a:sym typeface="Arial"/>
              </a:defRPr>
            </a:pPr>
            <a:r>
              <a:t>Theme-</a:t>
            </a:r>
          </a:p>
          <a:p>
            <a:pPr marL="285750" indent="-285750" algn="just">
              <a:lnSpc>
                <a:spcPct val="200000"/>
              </a:lnSpc>
              <a:buSzPct val="100000"/>
              <a:buFont typeface="Arial"/>
              <a:buChar char="•"/>
              <a:defRPr b="1" sz="2400">
                <a:latin typeface="Arial"/>
                <a:ea typeface="Arial"/>
                <a:cs typeface="Arial"/>
                <a:sym typeface="Arial"/>
              </a:defRPr>
            </a:pPr>
            <a: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SzPct val="100000"/>
              <a:buFont typeface="Arial"/>
              <a:buChar char="•"/>
              <a:defRPr b="1" sz="2400">
                <a:latin typeface="Arial"/>
                <a:ea typeface="Arial"/>
                <a:cs typeface="Arial"/>
                <a:sym typeface="Arial"/>
              </a:defRPr>
            </a:pPr>
            <a:r>
              <a:t>Team ID- </a:t>
            </a:r>
          </a:p>
          <a:p>
            <a:pPr marL="285750" indent="-285750" algn="just">
              <a:lnSpc>
                <a:spcPct val="200000"/>
              </a:lnSpc>
              <a:buSzPct val="100000"/>
              <a:buFont typeface="Arial"/>
              <a:buChar char="•"/>
              <a:defRPr b="1" sz="2400">
                <a:latin typeface="Arial"/>
                <a:ea typeface="Arial"/>
                <a:cs typeface="Arial"/>
                <a:sym typeface="Arial"/>
              </a:defRPr>
            </a:pPr>
            <a:r>
              <a:t>Team Name (Registered on portal)</a:t>
            </a:r>
          </a:p>
        </p:txBody>
      </p:sp>
      <p:pic>
        <p:nvPicPr>
          <p:cNvPr id="100" name="Picture 1" descr="Pictur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780085" y="1500"/>
            <a:ext cx="2249854" cy="106233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Footer Placeholder 6"/>
          <p:cNvSpPr txBox="1"/>
          <p:nvPr/>
        </p:nvSpPr>
        <p:spPr>
          <a:xfrm>
            <a:off x="4693920" y="6404296"/>
            <a:ext cx="3112562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pPr/>
            <a:r>
              <a:t>@SIH Idea submission- Template</a:t>
            </a:r>
          </a:p>
        </p:txBody>
      </p:sp>
      <p:sp>
        <p:nvSpPr>
          <p:cNvPr id="103" name="Rectangle 8"/>
          <p:cNvSpPr/>
          <p:nvPr/>
        </p:nvSpPr>
        <p:spPr>
          <a:xfrm>
            <a:off x="-3" y="6354762"/>
            <a:ext cx="12192005" cy="503241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sx="100000" sy="100000" kx="0" ky="0" algn="b" rotWithShape="0" blurRad="0" dist="23000" dir="5400000">
              <a:srgbClr val="808080">
                <a:alpha val="34999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953735"/>
                </a:solidFill>
              </a:defRPr>
            </a:pPr>
          </a:p>
        </p:txBody>
      </p:sp>
      <p:sp>
        <p:nvSpPr>
          <p:cNvPr id="104" name="Title 1"/>
          <p:cNvSpPr txBox="1"/>
          <p:nvPr>
            <p:ph type="title"/>
          </p:nvPr>
        </p:nvSpPr>
        <p:spPr>
          <a:xfrm>
            <a:off x="1711019" y="177777"/>
            <a:ext cx="8152849" cy="709784"/>
          </a:xfrm>
          <a:prstGeom prst="rect">
            <a:avLst/>
          </a:prstGeom>
        </p:spPr>
        <p:txBody>
          <a:bodyPr/>
          <a:lstStyle/>
          <a:p>
            <a:pPr defTabSz="242315">
              <a:defRPr b="1" sz="1900">
                <a:latin typeface="Times New Roman"/>
                <a:ea typeface="Times New Roman"/>
                <a:cs typeface="Times New Roman"/>
                <a:sym typeface="Times New Roman"/>
              </a:defRPr>
            </a:pPr>
            <a:br/>
            <a:r>
              <a:t>TRUTH INTELLIGENCE – Automated Multi-Modal Fact-Checking Engine </a:t>
            </a:r>
          </a:p>
        </p:txBody>
      </p:sp>
      <p:sp>
        <p:nvSpPr>
          <p:cNvPr id="105" name="Slide Number Placeholder 5"/>
          <p:cNvSpPr txBox="1"/>
          <p:nvPr>
            <p:ph type="sldNum" sz="quarter" idx="4294967295"/>
          </p:nvPr>
        </p:nvSpPr>
        <p:spPr>
          <a:xfrm>
            <a:off x="11393502" y="6404295"/>
            <a:ext cx="188895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pic>
        <p:nvPicPr>
          <p:cNvPr id="106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0085" y="1500"/>
            <a:ext cx="2249854" cy="1062337"/>
          </a:xfrm>
          <a:prstGeom prst="rect">
            <a:avLst/>
          </a:prstGeom>
          <a:ln w="12700">
            <a:miter lim="400000"/>
          </a:ln>
        </p:spPr>
      </p:pic>
      <p:sp>
        <p:nvSpPr>
          <p:cNvPr id="107" name="1. Solution Overview…"/>
          <p:cNvSpPr txBox="1"/>
          <p:nvPr/>
        </p:nvSpPr>
        <p:spPr>
          <a:xfrm>
            <a:off x="619413" y="1394523"/>
            <a:ext cx="11261574" cy="1005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spcBef>
                <a:spcPts val="1500"/>
              </a:spcBef>
              <a:defRPr b="1" sz="13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t>1. Solution Overview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b="1" sz="1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Core Function</a:t>
            </a:r>
            <a:r>
              <a:rPr b="0"/>
              <a:t>: An automated AI engine that combats misinformation across text and visual media in real time .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b="1" sz="1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Architecture</a:t>
            </a:r>
            <a:r>
              <a:rPr b="0"/>
              <a:t>: Full-stack pipeline featuring a FastAPI backend, Streamlit user interface, and RAG-based live verification. </a:t>
            </a:r>
          </a:p>
        </p:txBody>
      </p:sp>
      <p:sp>
        <p:nvSpPr>
          <p:cNvPr id="108" name="2. Process Flow"/>
          <p:cNvSpPr txBox="1"/>
          <p:nvPr/>
        </p:nvSpPr>
        <p:spPr>
          <a:xfrm>
            <a:off x="569032" y="2730537"/>
            <a:ext cx="5420941" cy="294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spcBef>
                <a:spcPts val="1500"/>
              </a:spcBef>
              <a:defRPr b="1" sz="1300" u="sng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2. Process Flow </a:t>
            </a:r>
          </a:p>
        </p:txBody>
      </p:sp>
      <p:pic>
        <p:nvPicPr>
          <p:cNvPr id="109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69031" y="2730537"/>
            <a:ext cx="5329378" cy="2909299"/>
          </a:xfrm>
          <a:prstGeom prst="rect">
            <a:avLst/>
          </a:prstGeom>
          <a:ln w="12700">
            <a:miter lim="400000"/>
          </a:ln>
        </p:spPr>
      </p:pic>
      <p:sp>
        <p:nvSpPr>
          <p:cNvPr id="110" name="3. Innovation &amp; Uniqueness (Novelty Factors)…"/>
          <p:cNvSpPr txBox="1"/>
          <p:nvPr/>
        </p:nvSpPr>
        <p:spPr>
          <a:xfrm>
            <a:off x="6241674" y="2730537"/>
            <a:ext cx="5255666" cy="31407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spcBef>
                <a:spcPts val="1500"/>
              </a:spcBef>
              <a:defRPr b="1" sz="13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t>3. Innovation &amp; Uniqueness (Novelty Factors)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b="1" sz="1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Real-Time Cross-Verification:</a:t>
            </a:r>
            <a:r>
              <a:rPr b="0"/>
              <a:t> Uses dynamic Retrieval-Augmented Generation (RAG) rather than static, outdated training data.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b="1" sz="1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Multimodal Capability:</a:t>
            </a:r>
            <a:r>
              <a:rPr b="0"/>
              <a:t> Ingests both plain text and social media screenshots/images seamlessly.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b="1" sz="1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Built-in Benchmark Suite:</a:t>
            </a:r>
            <a:r>
              <a:rPr b="0"/>
              <a:t> Features an automated evaluation framework (</a:t>
            </a:r>
            <a:r>
              <a:rPr b="0">
                <a:latin typeface="Courier"/>
                <a:ea typeface="Courier"/>
                <a:cs typeface="Courier"/>
                <a:sym typeface="Courier"/>
              </a:rPr>
              <a:t>run_benchmark.py</a:t>
            </a:r>
            <a:r>
              <a:rPr b="0"/>
              <a:t>) to systematically measure accuracy.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b="1" sz="1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One-Click Local Deployment:</a:t>
            </a:r>
            <a:r>
              <a:rPr b="0"/>
              <a:t> Packaged with automated execution scripts (</a:t>
            </a:r>
            <a:r>
              <a:rPr b="0">
                <a:latin typeface="Courier"/>
                <a:ea typeface="Courier"/>
                <a:cs typeface="Courier"/>
                <a:sym typeface="Courier"/>
              </a:rPr>
              <a:t>Truth_Intelligence.bat</a:t>
            </a:r>
            <a:r>
              <a:rPr b="0"/>
              <a:t>) and Docker containerization. </a:t>
            </a:r>
            <a:br>
              <a:rPr b="0"/>
            </a:br>
          </a:p>
        </p:txBody>
      </p:sp>
      <p:pic>
        <p:nvPicPr>
          <p:cNvPr id="111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-6260" y="44589"/>
            <a:ext cx="1526004" cy="114748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Footer Placeholder 6"/>
          <p:cNvSpPr txBox="1"/>
          <p:nvPr/>
        </p:nvSpPr>
        <p:spPr>
          <a:xfrm>
            <a:off x="4693920" y="6404296"/>
            <a:ext cx="3112562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pPr/>
            <a:r>
              <a:t>@SIH Idea submission- Template</a:t>
            </a:r>
          </a:p>
        </p:txBody>
      </p:sp>
      <p:sp>
        <p:nvSpPr>
          <p:cNvPr id="114" name="Rectangle 9"/>
          <p:cNvSpPr/>
          <p:nvPr/>
        </p:nvSpPr>
        <p:spPr>
          <a:xfrm>
            <a:off x="-3" y="6354762"/>
            <a:ext cx="12192005" cy="503241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sx="100000" sy="100000" kx="0" ky="0" algn="b" rotWithShape="0" blurRad="0" dist="23000" dir="5400000">
              <a:srgbClr val="808080">
                <a:alpha val="34999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953735"/>
                </a:solidFill>
              </a:defRPr>
            </a:pPr>
          </a:p>
        </p:txBody>
      </p:sp>
      <p:sp>
        <p:nvSpPr>
          <p:cNvPr id="11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TECHNICAL APPROACH</a:t>
            </a:r>
          </a:p>
        </p:txBody>
      </p:sp>
      <p:sp>
        <p:nvSpPr>
          <p:cNvPr id="116" name="Slide Number Placeholder 5"/>
          <p:cNvSpPr txBox="1"/>
          <p:nvPr>
            <p:ph type="sldNum" sz="quarter" idx="4294967295"/>
          </p:nvPr>
        </p:nvSpPr>
        <p:spPr>
          <a:xfrm>
            <a:off x="11393502" y="6404295"/>
            <a:ext cx="188895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pic>
        <p:nvPicPr>
          <p:cNvPr id="117" name="Picture 11" descr="Picture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0085" y="1500"/>
            <a:ext cx="2249854" cy="1062337"/>
          </a:xfrm>
          <a:prstGeom prst="rect">
            <a:avLst/>
          </a:prstGeom>
          <a:ln w="12700">
            <a:miter lim="400000"/>
          </a:ln>
        </p:spPr>
      </p:pic>
      <p:sp>
        <p:nvSpPr>
          <p:cNvPr id="118" name="Core Tech Stack Breakdown"/>
          <p:cNvSpPr txBox="1"/>
          <p:nvPr/>
        </p:nvSpPr>
        <p:spPr>
          <a:xfrm>
            <a:off x="2405676" y="1369386"/>
            <a:ext cx="2659359" cy="548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187156" indent="-187156">
              <a:buSzPct val="100000"/>
              <a:buAutoNum type="arabicPeriod" startAt="1"/>
              <a:defRPr b="1" sz="14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Core Tech Stack Breakdown </a:t>
            </a:r>
          </a:p>
          <a:p>
            <a:pPr>
              <a:defRPr b="1" sz="14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t>  </a:t>
            </a:r>
          </a:p>
        </p:txBody>
      </p:sp>
      <p:sp>
        <p:nvSpPr>
          <p:cNvPr id="119" name="2. End-to-End Execution Pipeline…"/>
          <p:cNvSpPr txBox="1"/>
          <p:nvPr/>
        </p:nvSpPr>
        <p:spPr>
          <a:xfrm>
            <a:off x="7518209" y="1466478"/>
            <a:ext cx="4617676" cy="4830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defRPr b="1" sz="13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t>2. End-to-End Execution Pipeline </a:t>
            </a:r>
          </a:p>
          <a:p>
            <a:pPr algn="ctr">
              <a:defRPr b="1" sz="1300" u="sng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b="1" sz="1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Step 1: Multi-Modal Ingestion (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frontend/app.py</a:t>
            </a:r>
            <a:r>
              <a:t>)</a:t>
            </a:r>
          </a:p>
          <a:p>
            <a:pPr lvl="1" marL="914400" indent="-317500">
              <a:spcBef>
                <a:spcPts val="1200"/>
              </a:spcBef>
              <a:buSzPct val="100000"/>
              <a:buFont typeface="Times Roman"/>
              <a:buChar char="◦"/>
              <a:defRPr sz="1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Ingests raw news text, social media statements, or screenshot images.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b="1" sz="1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Step 2: OCR &amp; Claim Parsing (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ai/claim_extractor.py</a:t>
            </a:r>
            <a: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multimodal/ocr_reader.py )</a:t>
            </a:r>
          </a:p>
          <a:p>
            <a:pPr lvl="1" marL="914400" indent="-317500">
              <a:spcBef>
                <a:spcPts val="1200"/>
              </a:spcBef>
              <a:buSzPct val="100000"/>
              <a:buFont typeface="Times Roman"/>
              <a:buChar char="◦"/>
              <a:defRPr sz="1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Extracts embedded text via OCR and isolates unambiguous, verifiable factual claims.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b="1" sz="1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Step 3: Real-Time Web RAG (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retrieval/rag_ranker.py</a:t>
            </a:r>
            <a: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search_engine.py )</a:t>
            </a:r>
          </a:p>
          <a:p>
            <a:pPr lvl="1" marL="914400" indent="-317500">
              <a:spcBef>
                <a:spcPts val="1200"/>
              </a:spcBef>
              <a:buSzPct val="100000"/>
              <a:buFont typeface="Times Roman"/>
              <a:buChar char="◦"/>
              <a:defRPr sz="1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Queries live web sources, filters domain credibility, and ranks top-k authoritative context snippets.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b="1" sz="1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Step 4: AI Cross-Verification (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ai/verifier.py</a:t>
            </a:r>
            <a:r>
              <a:t>)</a:t>
            </a:r>
          </a:p>
          <a:p>
            <a:pPr lvl="1" marL="914400" indent="-317500">
              <a:spcBef>
                <a:spcPts val="1200"/>
              </a:spcBef>
              <a:buSzPct val="100000"/>
              <a:buFont typeface="Times Roman"/>
              <a:buChar char="◦"/>
              <a:defRPr sz="1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Evaluates claims against retrieved evidence snippets using an LLM reasoning engine.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b="1" sz="1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Step 5: Verdict &amp; Explanation Dashboard</a:t>
            </a:r>
          </a:p>
          <a:p>
            <a:pPr lvl="1" marL="914400" indent="-317500">
              <a:spcBef>
                <a:spcPts val="1200"/>
              </a:spcBef>
              <a:buSzPct val="100000"/>
              <a:buFont typeface="Times Roman"/>
              <a:buChar char="◦"/>
              <a:defRPr sz="1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Generates a final classification (</a:t>
            </a:r>
            <a:r>
              <a:rPr i="1"/>
              <a:t>True / Fake / Misleading</a:t>
            </a:r>
            <a:r>
              <a:t>), confidence score, and clear step-by-step reasoning.</a:t>
            </a:r>
          </a:p>
        </p:txBody>
      </p:sp>
      <p:pic>
        <p:nvPicPr>
          <p:cNvPr id="120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7000" y="1801971"/>
            <a:ext cx="7216713" cy="384619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1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52" y="0"/>
            <a:ext cx="1456709" cy="10953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Footer Placeholder 6"/>
          <p:cNvSpPr txBox="1"/>
          <p:nvPr/>
        </p:nvSpPr>
        <p:spPr>
          <a:xfrm>
            <a:off x="4693920" y="6404296"/>
            <a:ext cx="3112562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pPr/>
            <a:r>
              <a:t>@SIH Idea submission- Template</a:t>
            </a:r>
          </a:p>
        </p:txBody>
      </p:sp>
      <p:sp>
        <p:nvSpPr>
          <p:cNvPr id="124" name="Rectangle 9"/>
          <p:cNvSpPr/>
          <p:nvPr/>
        </p:nvSpPr>
        <p:spPr>
          <a:xfrm>
            <a:off x="0" y="6287296"/>
            <a:ext cx="12192000" cy="503241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sx="100000" sy="100000" kx="0" ky="0" algn="b" rotWithShape="0" blurRad="0" dist="23000" dir="5400000">
              <a:srgbClr val="808080">
                <a:alpha val="34999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953735"/>
                </a:solidFill>
              </a:defRPr>
            </a:pPr>
          </a:p>
        </p:txBody>
      </p:sp>
      <p:sp>
        <p:nvSpPr>
          <p:cNvPr id="12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FEASIBILITY AND VIABILITY</a:t>
            </a:r>
          </a:p>
        </p:txBody>
      </p:sp>
      <p:sp>
        <p:nvSpPr>
          <p:cNvPr id="126" name="Slide Number Placeholder 5"/>
          <p:cNvSpPr txBox="1"/>
          <p:nvPr>
            <p:ph type="sldNum" sz="quarter" idx="4294967295"/>
          </p:nvPr>
        </p:nvSpPr>
        <p:spPr>
          <a:xfrm>
            <a:off x="11393502" y="6404295"/>
            <a:ext cx="188895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pic>
        <p:nvPicPr>
          <p:cNvPr id="127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0085" y="1500"/>
            <a:ext cx="2249854" cy="1062337"/>
          </a:xfrm>
          <a:prstGeom prst="rect">
            <a:avLst/>
          </a:prstGeom>
          <a:ln w="12700">
            <a:miter lim="400000"/>
          </a:ln>
        </p:spPr>
      </p:pic>
      <p:sp>
        <p:nvSpPr>
          <p:cNvPr id="128" name="1. Feasibility Analysis (Technical &amp; Operational)…"/>
          <p:cNvSpPr txBox="1"/>
          <p:nvPr/>
        </p:nvSpPr>
        <p:spPr>
          <a:xfrm>
            <a:off x="305591" y="1086736"/>
            <a:ext cx="4631691" cy="3930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spcBef>
                <a:spcPts val="1500"/>
              </a:spcBef>
              <a:defRPr b="1" sz="16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t>1. Feasibility Analysis (Technical &amp; Operational)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b="1" sz="1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Lightweight &amp; Modular Tech Stack:</a:t>
            </a:r>
            <a:r>
              <a:rPr b="0"/>
              <a:t> Built with </a:t>
            </a:r>
            <a:r>
              <a:t>FastAPI</a:t>
            </a:r>
            <a:r>
              <a:rPr b="0"/>
              <a:t> (asynchronous backend) and </a:t>
            </a:r>
            <a:r>
              <a:t>Streamlit</a:t>
            </a:r>
            <a:r>
              <a:rPr b="0"/>
              <a:t> (interactive frontend) for low resource overhead and swift execution.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b="1" sz="1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Real-Time Dynamic RAG:</a:t>
            </a:r>
            <a:r>
              <a:rPr b="0"/>
              <a:t> Leverages live web retrieval (</a:t>
            </a:r>
            <a:r>
              <a:rPr b="0">
                <a:latin typeface="Courier"/>
                <a:ea typeface="Courier"/>
                <a:cs typeface="Courier"/>
                <a:sym typeface="Courier"/>
              </a:rPr>
              <a:t>search_engine.py</a:t>
            </a:r>
            <a:r>
              <a:rPr b="0"/>
              <a:t>) and context-aware ranking (</a:t>
            </a:r>
            <a:r>
              <a:rPr b="0">
                <a:latin typeface="Courier"/>
                <a:ea typeface="Courier"/>
                <a:cs typeface="Courier"/>
                <a:sym typeface="Courier"/>
              </a:rPr>
              <a:t>rag_ranker.py</a:t>
            </a:r>
            <a:r>
              <a:rPr b="0"/>
              <a:t>) instead of relying on expensive, static model fine-tuning.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b="1" sz="1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Zero-Setup Local Deployment:</a:t>
            </a:r>
            <a:r>
              <a:rPr b="0"/>
              <a:t> Packaged with a single-click launch script (</a:t>
            </a:r>
            <a:r>
              <a:rPr b="0">
                <a:latin typeface="Courier"/>
                <a:ea typeface="Courier"/>
                <a:cs typeface="Courier"/>
                <a:sym typeface="Courier"/>
              </a:rPr>
              <a:t>Truth_Intelligence.bat</a:t>
            </a:r>
            <a:r>
              <a:rPr b="0"/>
              <a:t>) and Docker orchestration (</a:t>
            </a:r>
            <a:r>
              <a:rPr b="0">
                <a:latin typeface="Courier"/>
                <a:ea typeface="Courier"/>
                <a:cs typeface="Courier"/>
                <a:sym typeface="Courier"/>
              </a:rPr>
              <a:t>docker-compose.yml</a:t>
            </a:r>
            <a:r>
              <a:rPr b="0"/>
              <a:t>) for seamless cross-platform deployment.</a:t>
            </a:r>
          </a:p>
        </p:txBody>
      </p:sp>
      <p:sp>
        <p:nvSpPr>
          <p:cNvPr id="129" name="2. Potential Challenges &amp; Risk Mitigation"/>
          <p:cNvSpPr txBox="1"/>
          <p:nvPr/>
        </p:nvSpPr>
        <p:spPr>
          <a:xfrm>
            <a:off x="6682978" y="1103455"/>
            <a:ext cx="3716493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600" u="sng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2. Potential Challenges &amp; Risk Mitigation</a:t>
            </a:r>
          </a:p>
        </p:txBody>
      </p:sp>
      <p:pic>
        <p:nvPicPr>
          <p:cNvPr id="130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055551" y="1475813"/>
            <a:ext cx="6971349" cy="3272020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3. Viability &amp; Long-Term Sustainability…"/>
          <p:cNvSpPr txBox="1"/>
          <p:nvPr/>
        </p:nvSpPr>
        <p:spPr>
          <a:xfrm>
            <a:off x="927522" y="5159809"/>
            <a:ext cx="10336957" cy="980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spcBef>
                <a:spcPts val="1500"/>
              </a:spcBef>
              <a:defRPr b="1" sz="14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t>3. Viability &amp; Long-Term Sustainability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Cost-Effective Infrastructure:</a:t>
            </a:r>
            <a:r>
              <a:rPr b="0"/>
              <a:t> Uses open search connectors and local inference pipelines, eliminating recurring proprietary database overhead.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Continuous Quality Assurance:</a:t>
            </a:r>
            <a:r>
              <a:rPr b="0"/>
              <a:t> Built-in benchmarking harness ensures performance and latency can be tracked and scaled systematically.</a:t>
            </a:r>
          </a:p>
        </p:txBody>
      </p:sp>
      <p:pic>
        <p:nvPicPr>
          <p:cNvPr id="132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51" y="8550"/>
            <a:ext cx="1370625" cy="10306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Footer Placeholder 6"/>
          <p:cNvSpPr txBox="1"/>
          <p:nvPr/>
        </p:nvSpPr>
        <p:spPr>
          <a:xfrm>
            <a:off x="4693920" y="6404296"/>
            <a:ext cx="3112562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pPr/>
            <a:r>
              <a:t>@SIH Idea submission- Template</a:t>
            </a:r>
          </a:p>
        </p:txBody>
      </p:sp>
      <p:sp>
        <p:nvSpPr>
          <p:cNvPr id="135" name="Rectangle 9"/>
          <p:cNvSpPr/>
          <p:nvPr/>
        </p:nvSpPr>
        <p:spPr>
          <a:xfrm>
            <a:off x="-3" y="6354762"/>
            <a:ext cx="12192005" cy="503241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sx="100000" sy="100000" kx="0" ky="0" algn="b" rotWithShape="0" blurRad="0" dist="23000" dir="5400000">
              <a:srgbClr val="808080">
                <a:alpha val="34999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953735"/>
                </a:solidFill>
              </a:defRPr>
            </a:pPr>
          </a:p>
        </p:txBody>
      </p:sp>
      <p:sp>
        <p:nvSpPr>
          <p:cNvPr id="13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IMPACT AND BENEFITS</a:t>
            </a:r>
          </a:p>
        </p:txBody>
      </p:sp>
      <p:sp>
        <p:nvSpPr>
          <p:cNvPr id="137" name="Slide Number Placeholder 5"/>
          <p:cNvSpPr txBox="1"/>
          <p:nvPr>
            <p:ph type="sldNum" sz="quarter" idx="4294967295"/>
          </p:nvPr>
        </p:nvSpPr>
        <p:spPr>
          <a:xfrm>
            <a:off x="11393502" y="6404295"/>
            <a:ext cx="188895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pic>
        <p:nvPicPr>
          <p:cNvPr id="138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0085" y="1500"/>
            <a:ext cx="2249854" cy="1062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9" name="1. Potential Impact on Target Audience…"/>
          <p:cNvSpPr txBox="1"/>
          <p:nvPr/>
        </p:nvSpPr>
        <p:spPr>
          <a:xfrm>
            <a:off x="356022" y="1192355"/>
            <a:ext cx="3925014" cy="3509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spcBef>
                <a:spcPts val="1500"/>
              </a:spcBef>
              <a:defRPr b="1" sz="12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t>1. Potential Impact on Target Audience 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b="1" sz="1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General Public &amp; Social Media Consumers:</a:t>
            </a:r>
            <a:r>
              <a:rPr b="0"/>
              <a:t> Enables instant debunking of viral text claims and screenshot-based rumors directly through an interactive interface (</a:t>
            </a:r>
            <a:r>
              <a:rPr b="0">
                <a:latin typeface="Courier"/>
                <a:ea typeface="Courier"/>
                <a:cs typeface="Courier"/>
                <a:sym typeface="Courier"/>
              </a:rPr>
              <a:t>frontend/app.py</a:t>
            </a:r>
            <a:r>
              <a:rPr b="0"/>
              <a:t>).</a:t>
            </a:r>
          </a:p>
          <a:p>
            <a:pPr>
              <a:spcBef>
                <a:spcPts val="1200"/>
              </a:spcBef>
              <a:defRPr sz="11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b="1" sz="1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Journalists, Fact-Checkers &amp; Media Rooms:</a:t>
            </a:r>
            <a:r>
              <a:rPr b="0"/>
              <a:t> Accelerates investigation workflows by automating evidence gathering via live search (</a:t>
            </a:r>
            <a:r>
              <a:rPr b="0">
                <a:latin typeface="Courier"/>
                <a:ea typeface="Courier"/>
                <a:cs typeface="Courier"/>
                <a:sym typeface="Courier"/>
              </a:rPr>
              <a:t>retrieval/search_engine.py</a:t>
            </a:r>
            <a:r>
              <a:rPr b="0"/>
              <a:t>) and providing step-by-step AI reasoning.</a:t>
            </a:r>
          </a:p>
          <a:p>
            <a:pPr>
              <a:spcBef>
                <a:spcPts val="1200"/>
              </a:spcBef>
              <a:defRPr sz="11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b="1" sz="1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Digital Platforms &amp; Community Moderators:</a:t>
            </a:r>
            <a:r>
              <a:rPr b="0"/>
              <a:t> Provides a containerized, API-driven backend (</a:t>
            </a:r>
            <a:r>
              <a:rPr b="0">
                <a:latin typeface="Courier"/>
                <a:ea typeface="Courier"/>
                <a:cs typeface="Courier"/>
                <a:sym typeface="Courier"/>
              </a:rPr>
              <a:t>backend/main.py</a:t>
            </a:r>
            <a:r>
              <a:rPr b="0"/>
              <a:t>, </a:t>
            </a:r>
            <a:r>
              <a:rPr b="0">
                <a:latin typeface="Courier"/>
                <a:ea typeface="Courier"/>
                <a:cs typeface="Courier"/>
                <a:sym typeface="Courier"/>
              </a:rPr>
              <a:t>Dockerfile.backend</a:t>
            </a:r>
            <a:r>
              <a:rPr b="0"/>
              <a:t>) for automated content moderation at scale.</a:t>
            </a:r>
            <a:br>
              <a:rPr b="0"/>
            </a:br>
          </a:p>
        </p:txBody>
      </p:sp>
      <p:pic>
        <p:nvPicPr>
          <p:cNvPr id="140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466866" y="1200436"/>
            <a:ext cx="7474061" cy="3310703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2. Core Benefits of the Solution…"/>
          <p:cNvSpPr txBox="1"/>
          <p:nvPr/>
        </p:nvSpPr>
        <p:spPr>
          <a:xfrm>
            <a:off x="651323" y="4608119"/>
            <a:ext cx="11197753" cy="1869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spcBef>
                <a:spcPts val="1500"/>
              </a:spcBef>
              <a:defRPr b="1" sz="12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t>2. Core Benefits of the Solution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b="1" sz="1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Social Benefit (Combating Digital Misinformation):</a:t>
            </a:r>
            <a:r>
              <a:rPr b="0"/>
              <a:t> Curbs the viral spread of fake news, panic-inducing rumors, and deep-text fabrications with explainable AI verdicts and confidence scoring.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b="1" sz="1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Economic &amp; Operational Benefit (Zero-Cost Verification):</a:t>
            </a:r>
            <a:r>
              <a:rPr b="0"/>
              <a:t> Replaces expensive manual research and costly proprietary subscriptions with open, automated RAG pipelines and custom ranking algorithms (</a:t>
            </a:r>
            <a:r>
              <a:rPr b="0">
                <a:latin typeface="Courier"/>
                <a:ea typeface="Courier"/>
                <a:cs typeface="Courier"/>
                <a:sym typeface="Courier"/>
              </a:rPr>
              <a:t>retrieval/rag_ranker.py</a:t>
            </a:r>
            <a:r>
              <a:rPr b="0"/>
              <a:t>, </a:t>
            </a:r>
            <a:r>
              <a:rPr b="0">
                <a:latin typeface="Courier"/>
                <a:ea typeface="Courier"/>
                <a:cs typeface="Courier"/>
                <a:sym typeface="Courier"/>
              </a:rPr>
              <a:t>retrieval/source_ranker.py</a:t>
            </a:r>
            <a:r>
              <a:rPr b="0"/>
              <a:t>).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b="1" sz="1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Technical &amp; Scalability Benefit (Measurable Reliability):</a:t>
            </a:r>
            <a:r>
              <a:rPr b="0"/>
              <a:t> Ensures benchmarked precision and systematic quality tracking via an automated evaluation harness (</a:t>
            </a:r>
            <a:r>
              <a:rPr b="0">
                <a:latin typeface="Courier"/>
                <a:ea typeface="Courier"/>
                <a:cs typeface="Courier"/>
                <a:sym typeface="Courier"/>
              </a:rPr>
              <a:t>evaluation/run_benchmark.py</a:t>
            </a:r>
            <a:r>
              <a:rPr b="0"/>
              <a:t>).</a:t>
            </a:r>
          </a:p>
          <a:p>
            <a:pPr marL="404282" indent="-264582">
              <a:spcBef>
                <a:spcPts val="1200"/>
              </a:spcBef>
              <a:buSzPct val="100000"/>
              <a:buFont typeface="Times Roman"/>
              <a:buChar char="•"/>
              <a:defRPr b="1" sz="1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Deployment Benefit (Rapid Adoption):</a:t>
            </a:r>
            <a:r>
              <a:rPr b="0"/>
              <a:t> Delivers zero-barrier onboarding through one-click local launch scripts (</a:t>
            </a:r>
            <a:r>
              <a:rPr b="0">
                <a:latin typeface="Courier"/>
                <a:ea typeface="Courier"/>
                <a:cs typeface="Courier"/>
                <a:sym typeface="Courier"/>
              </a:rPr>
              <a:t>Truth_Intelligence.bat</a:t>
            </a:r>
            <a:r>
              <a:rPr b="0"/>
              <a:t>) and Docker orchestration.</a:t>
            </a:r>
            <a:br>
              <a:rPr b="0"/>
            </a:br>
          </a:p>
        </p:txBody>
      </p:sp>
      <p:pic>
        <p:nvPicPr>
          <p:cNvPr id="142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-9732" y="0"/>
            <a:ext cx="1456708" cy="10953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Footer Placeholder 6"/>
          <p:cNvSpPr txBox="1"/>
          <p:nvPr/>
        </p:nvSpPr>
        <p:spPr>
          <a:xfrm>
            <a:off x="4693920" y="6404296"/>
            <a:ext cx="3112562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pPr/>
            <a:r>
              <a:t>@SIH Idea submission- Template</a:t>
            </a:r>
          </a:p>
        </p:txBody>
      </p:sp>
      <p:sp>
        <p:nvSpPr>
          <p:cNvPr id="145" name="Rectangle 9"/>
          <p:cNvSpPr/>
          <p:nvPr/>
        </p:nvSpPr>
        <p:spPr>
          <a:xfrm>
            <a:off x="-3" y="6354762"/>
            <a:ext cx="12192005" cy="503241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sx="100000" sy="100000" kx="0" ky="0" algn="b" rotWithShape="0" blurRad="0" dist="23000" dir="5400000">
              <a:srgbClr val="808080">
                <a:alpha val="34999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953735"/>
                </a:solidFill>
              </a:defRPr>
            </a:pPr>
          </a:p>
        </p:txBody>
      </p:sp>
      <p:sp>
        <p:nvSpPr>
          <p:cNvPr id="14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RESEARCH  AND REFERENCES</a:t>
            </a:r>
          </a:p>
        </p:txBody>
      </p:sp>
      <p:sp>
        <p:nvSpPr>
          <p:cNvPr id="147" name="Slide Number Placeholder 5"/>
          <p:cNvSpPr txBox="1"/>
          <p:nvPr>
            <p:ph type="sldNum" sz="quarter" idx="4294967295"/>
          </p:nvPr>
        </p:nvSpPr>
        <p:spPr>
          <a:xfrm>
            <a:off x="11393502" y="6404295"/>
            <a:ext cx="188895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pic>
        <p:nvPicPr>
          <p:cNvPr id="148" name="Picture 11" descr="Picture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0085" y="1500"/>
            <a:ext cx="2249854" cy="1062337"/>
          </a:xfrm>
          <a:prstGeom prst="rect">
            <a:avLst/>
          </a:prstGeom>
          <a:ln w="12700">
            <a:miter lim="400000"/>
          </a:ln>
        </p:spPr>
      </p:pic>
      <p:sp>
        <p:nvSpPr>
          <p:cNvPr id="149" name="1. Core Research Foundations &amp; Technical Pillars…"/>
          <p:cNvSpPr txBox="1"/>
          <p:nvPr/>
        </p:nvSpPr>
        <p:spPr>
          <a:xfrm>
            <a:off x="330622" y="1116156"/>
            <a:ext cx="5913548" cy="50066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defRPr b="1" u="sng"/>
            </a:pPr>
            <a:r>
              <a:t>1. Core Research Foundations &amp; Technical Pillars</a:t>
            </a:r>
          </a:p>
          <a:p>
            <a:pPr>
              <a:defRPr b="1" u="sng"/>
            </a:pPr>
          </a:p>
          <a:p>
            <a:pPr marL="180472" indent="-180472">
              <a:buSzPct val="100000"/>
              <a:buChar char="•"/>
            </a:pPr>
            <a:r>
              <a:t>Retrieval-Augmented Generation (RAG) &amp; Evidence Ranking: Grounded in research on real-time evidence retrieval and dynamic semantic re-ranking (retrieval/rag_ranker.py, retrieval/source_ranker.py) to eliminate AI hallucinations.  </a:t>
            </a:r>
          </a:p>
          <a:p>
            <a:pPr marL="180472" indent="-180472">
              <a:buSzPct val="100000"/>
              <a:buChar char="•"/>
            </a:pPr>
          </a:p>
          <a:p>
            <a:pPr marL="180472" indent="-180472">
              <a:buSzPct val="100000"/>
              <a:buChar char="•"/>
            </a:pPr>
            <a:r>
              <a:t>Multi-Modal Claim Parsing &amp; OCR: Implements computational linguistic extraction and computer-vision OCR pipelines (multimodal/ocr_reader.py, ai/claim_extractor.py) for multi-format claim isolation.  </a:t>
            </a:r>
          </a:p>
          <a:p>
            <a:pPr marL="180472" indent="-180472">
              <a:buSzPct val="100000"/>
              <a:buChar char="•"/>
            </a:pPr>
          </a:p>
          <a:p>
            <a:pPr marL="180472" indent="-180472">
              <a:buSzPct val="100000"/>
              <a:buChar char="•"/>
            </a:pPr>
            <a:r>
              <a:t>Automated Fact-Checking Benchmarking: Adopts standardized empirical evaluation methodology  (evaluation/run_benchmark.py) to score precision, recall, and confidence reliability against curated claim sets      (tests/test_claims.json).  </a:t>
            </a:r>
          </a:p>
        </p:txBody>
      </p:sp>
      <p:sp>
        <p:nvSpPr>
          <p:cNvPr id="150" name="2. Key Code References &amp; Open Frameworks…"/>
          <p:cNvSpPr txBox="1"/>
          <p:nvPr/>
        </p:nvSpPr>
        <p:spPr>
          <a:xfrm>
            <a:off x="6452022" y="1103456"/>
            <a:ext cx="5522790" cy="44224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defRPr b="1" u="sng"/>
            </a:pPr>
            <a:r>
              <a:t>2. Key Code References &amp; Open Frameworks</a:t>
            </a:r>
          </a:p>
          <a:p>
            <a:pPr>
              <a:defRPr b="1" u="sng"/>
            </a:pPr>
          </a:p>
          <a:p>
            <a:pPr marL="180472" indent="-180472">
              <a:buSzPct val="100000"/>
              <a:buChar char="•"/>
            </a:pPr>
            <a:r>
              <a:t>Source Code Repository: [github.com/Aaditya-coding/SIH-Phase-1](https://github.com/Aaditya-coding/SIH-Phase-1) (Truth Intelligence Core Engine).  </a:t>
            </a:r>
          </a:p>
          <a:p>
            <a:pPr marL="180472" indent="-180472">
              <a:buSzPct val="100000"/>
              <a:buChar char="•"/>
            </a:pPr>
          </a:p>
          <a:p>
            <a:pPr marL="180472" indent="-180472">
              <a:buSzPct val="100000"/>
              <a:buChar char="•"/>
            </a:pPr>
            <a:r>
              <a:t>Backend &amp; API Architecture: FastAPI documentation &amp; REST routing specifications (backend/main.py, docs/api.md).  </a:t>
            </a:r>
          </a:p>
          <a:p>
            <a:pPr marL="180472" indent="-180472">
              <a:buSzPct val="100000"/>
              <a:buChar char="•"/>
            </a:pPr>
          </a:p>
          <a:p>
            <a:pPr marL="180472" indent="-180472">
              <a:buSzPct val="100000"/>
              <a:buChar char="•"/>
            </a:pPr>
            <a:r>
              <a:t>Frontend &amp; Interactivity: Streamlit Application Framework (frontend/app.py).  </a:t>
            </a:r>
          </a:p>
          <a:p>
            <a:pPr marL="180472" indent="-180472">
              <a:buSzPct val="100000"/>
              <a:buChar char="•"/>
            </a:pPr>
          </a:p>
          <a:p>
            <a:pPr marL="180472" indent="-180472">
              <a:buSzPct val="100000"/>
              <a:buChar char="•"/>
            </a:pPr>
            <a:r>
              <a:t>Search &amp; Web Connectors: DuckDuckGo Search API &amp; custom search rankers (retrieval/search_engine.py).</a:t>
            </a:r>
          </a:p>
        </p:txBody>
      </p:sp>
      <p:pic>
        <p:nvPicPr>
          <p:cNvPr id="151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813" y="0"/>
            <a:ext cx="1416765" cy="10653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