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9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78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9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6" y="1535111"/>
            <a:ext cx="5389038" cy="639766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7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600" y="1435103"/>
            <a:ext cx="4011088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2389714" y="4800600"/>
            <a:ext cx="7315204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4" y="612775"/>
            <a:ext cx="73152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4" y="5367337"/>
            <a:ext cx="7315204" cy="80486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08749" y="6404297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t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Freeform: Shape 26"/>
          <p:cNvSpPr/>
          <p:nvPr/>
        </p:nvSpPr>
        <p:spPr>
          <a:xfrm>
            <a:off x="5656780" y="851520"/>
            <a:ext cx="4638605" cy="51549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/>
          <a:srcRect r="59916"/>
          <a:stretch>
            <a:fillRect/>
          </a:stretch>
        </p:blipFill>
        <p:spPr>
          <a:xfrm>
            <a:off x="6854890" y="1715878"/>
            <a:ext cx="3203512" cy="3426242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Subtitle 3"/>
          <p:cNvSpPr txBox="1">
            <a:spLocks noGrp="1"/>
          </p:cNvSpPr>
          <p:nvPr>
            <p:ph type="subTitle" sz="quarter" idx="1"/>
          </p:nvPr>
        </p:nvSpPr>
        <p:spPr>
          <a:xfrm>
            <a:off x="1245685" y="648612"/>
            <a:ext cx="8534401" cy="1752602"/>
          </a:xfrm>
          <a:prstGeom prst="rect">
            <a:avLst/>
          </a:prstGeom>
        </p:spPr>
        <p:txBody>
          <a:bodyPr/>
          <a:lstStyle/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TITLE PAGE</a:t>
            </a:r>
          </a:p>
        </p:txBody>
      </p:sp>
      <p:sp>
        <p:nvSpPr>
          <p:cNvPr id="98" name="Title 7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r>
              <a:t>SMART INDIA HACKATHON 2026</a:t>
            </a:r>
          </a:p>
        </p:txBody>
      </p:sp>
      <p:sp>
        <p:nvSpPr>
          <p:cNvPr id="99" name="TextBox 9"/>
          <p:cNvSpPr txBox="1"/>
          <p:nvPr/>
        </p:nvSpPr>
        <p:spPr>
          <a:xfrm>
            <a:off x="377005" y="2076449"/>
            <a:ext cx="5833114" cy="450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endParaRPr dirty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Problem Statement ID –  </a:t>
            </a:r>
          </a:p>
          <a:p>
            <a:pPr marL="285750" indent="-285750" algn="just"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Problem Statement Title-</a:t>
            </a:r>
            <a:r>
              <a:rPr lang="en-US" dirty="0"/>
              <a:t> </a:t>
            </a:r>
            <a:r>
              <a:rPr lang="en-GB" sz="1200" b="1" dirty="0">
                <a:latin typeface="Arial"/>
                <a:sym typeface="Arial"/>
              </a:rPr>
              <a:t>Automated Detection, Credibility Tiering, and Velocity Tracking of Multilingual Misinformation</a:t>
            </a:r>
            <a:endParaRPr sz="1200" dirty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Theme-</a:t>
            </a:r>
            <a:r>
              <a:rPr lang="en-IN" dirty="0"/>
              <a:t> Miscellaneous</a:t>
            </a:r>
            <a:endParaRPr dirty="0"/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PS Category- Software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Team ID- 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/>
              <a:buChar char="•"/>
              <a:defRPr sz="24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Team Name</a:t>
            </a:r>
            <a:r>
              <a:rPr lang="en-IN" dirty="0"/>
              <a:t>- </a:t>
            </a:r>
            <a:r>
              <a:rPr lang="en-IN" dirty="0" err="1"/>
              <a:t>Rag_Raiders</a:t>
            </a:r>
            <a:endParaRPr dirty="0"/>
          </a:p>
        </p:txBody>
      </p:sp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03" name="Rectangle 8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04" name="Title 1"/>
          <p:cNvSpPr txBox="1">
            <a:spLocks noGrp="1"/>
          </p:cNvSpPr>
          <p:nvPr>
            <p:ph type="title"/>
          </p:nvPr>
        </p:nvSpPr>
        <p:spPr>
          <a:xfrm>
            <a:off x="1711019" y="177777"/>
            <a:ext cx="8152849" cy="709784"/>
          </a:xfrm>
          <a:prstGeom prst="rect">
            <a:avLst/>
          </a:prstGeom>
        </p:spPr>
        <p:txBody>
          <a:bodyPr/>
          <a:lstStyle/>
          <a:p>
            <a:pPr defTabSz="242315">
              <a:defRPr sz="19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br/>
            <a:r>
              <a:t>TRUTH INTELLIGENCE – Automated Multi-Modal Fact-Checking Engine </a:t>
            </a:r>
          </a:p>
        </p:txBody>
      </p:sp>
      <p:sp>
        <p:nvSpPr>
          <p:cNvPr id="105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106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1. Solution Overview…"/>
          <p:cNvSpPr txBox="1"/>
          <p:nvPr/>
        </p:nvSpPr>
        <p:spPr>
          <a:xfrm>
            <a:off x="619413" y="1394523"/>
            <a:ext cx="11261574" cy="1005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500"/>
              </a:spcBef>
              <a:defRPr sz="13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Solution Overview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Function</a:t>
            </a:r>
            <a:r>
              <a:rPr b="0"/>
              <a:t>: An automated AI engine that combats misinformation across text and visual media in real time 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Architecture</a:t>
            </a:r>
            <a:r>
              <a:rPr b="0"/>
              <a:t>: Full-stack pipeline featuring a FastAPI backend, Streamlit user interface, and RAG-based live verification. </a:t>
            </a:r>
          </a:p>
        </p:txBody>
      </p:sp>
      <p:sp>
        <p:nvSpPr>
          <p:cNvPr id="108" name="2. Process Flow"/>
          <p:cNvSpPr txBox="1"/>
          <p:nvPr/>
        </p:nvSpPr>
        <p:spPr>
          <a:xfrm>
            <a:off x="569032" y="2730537"/>
            <a:ext cx="5420941" cy="294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>
            <a:lvl1pPr>
              <a:spcBef>
                <a:spcPts val="1500"/>
              </a:spcBef>
              <a:defRPr sz="13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2. Process Flow </a:t>
            </a:r>
          </a:p>
        </p:txBody>
      </p:sp>
      <p:pic>
        <p:nvPicPr>
          <p:cNvPr id="10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31" y="2730537"/>
            <a:ext cx="5329378" cy="290929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3. Innovation &amp; Uniqueness (Novelty Factors)…"/>
          <p:cNvSpPr txBox="1"/>
          <p:nvPr/>
        </p:nvSpPr>
        <p:spPr>
          <a:xfrm>
            <a:off x="6241674" y="2730537"/>
            <a:ext cx="5255666" cy="31407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500"/>
              </a:spcBef>
              <a:defRPr sz="13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3. Innovation &amp; Uniqueness (Novelty Factors)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Real-Time Cross-Verification:</a:t>
            </a:r>
            <a:r>
              <a:rPr b="0" dirty="0"/>
              <a:t> Uses dynamic Retrieval-Augmented Generation (RAG) rather than static, outdated training data.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Multimodal Capability:</a:t>
            </a:r>
            <a:r>
              <a:rPr b="0" dirty="0"/>
              <a:t> Ingests both plain text and social media screenshots/images seamlessly.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Built-in Benchmark Suite:</a:t>
            </a:r>
            <a:r>
              <a:rPr b="0" dirty="0"/>
              <a:t> Features an automated evaluation framework (</a:t>
            </a:r>
            <a:r>
              <a:rPr b="0" dirty="0">
                <a:latin typeface="Courier"/>
                <a:ea typeface="Courier"/>
                <a:cs typeface="Courier"/>
                <a:sym typeface="Courier"/>
              </a:rPr>
              <a:t>run_benchmark.py</a:t>
            </a:r>
            <a:r>
              <a:rPr b="0" dirty="0"/>
              <a:t>) to systematically measure accuracy.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One-Click Local Deployment:</a:t>
            </a:r>
            <a:r>
              <a:rPr b="0" dirty="0"/>
              <a:t> Packaged with automated execution scripts (</a:t>
            </a:r>
            <a:r>
              <a:rPr b="0" dirty="0">
                <a:latin typeface="Courier"/>
                <a:ea typeface="Courier"/>
                <a:cs typeface="Courier"/>
                <a:sym typeface="Courier"/>
              </a:rPr>
              <a:t>Truth_Intelligence.bat</a:t>
            </a:r>
            <a:r>
              <a:rPr b="0" dirty="0"/>
              <a:t>) and Docker containerization. </a:t>
            </a:r>
            <a:br>
              <a:rPr b="0" dirty="0"/>
            </a:br>
            <a:endParaRPr b="0" dirty="0"/>
          </a:p>
        </p:txBody>
      </p:sp>
      <p:pic>
        <p:nvPicPr>
          <p:cNvPr id="11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260" y="44589"/>
            <a:ext cx="1526004" cy="11474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14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1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TECHNICAL APPROACH</a:t>
            </a:r>
          </a:p>
        </p:txBody>
      </p:sp>
      <p:sp>
        <p:nvSpPr>
          <p:cNvPr id="116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117" name="Picture 11" descr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Core Tech Stack Breakdown"/>
          <p:cNvSpPr txBox="1"/>
          <p:nvPr/>
        </p:nvSpPr>
        <p:spPr>
          <a:xfrm>
            <a:off x="2405676" y="1369386"/>
            <a:ext cx="2659359" cy="54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87156" indent="-187156">
              <a:buSzPct val="100000"/>
              <a:buAutoNum type="arabicPeriod"/>
              <a:defRPr sz="14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Tech Stack Breakdown </a:t>
            </a:r>
          </a:p>
          <a:p>
            <a:pPr>
              <a:defRPr sz="14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</a:t>
            </a:r>
          </a:p>
        </p:txBody>
      </p:sp>
      <p:sp>
        <p:nvSpPr>
          <p:cNvPr id="119" name="2. End-to-End Execution Pipeline…"/>
          <p:cNvSpPr txBox="1"/>
          <p:nvPr/>
        </p:nvSpPr>
        <p:spPr>
          <a:xfrm>
            <a:off x="7518209" y="1466478"/>
            <a:ext cx="4617676" cy="4830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sz="13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End-to-End Execution Pipeline </a:t>
            </a:r>
          </a:p>
          <a:p>
            <a:pPr algn="ctr">
              <a:defRPr sz="1300" b="1" u="sng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1: Multi-Modal Ingestion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frontend/app.py</a:t>
            </a:r>
            <a:r>
              <a:t>)</a:t>
            </a:r>
          </a:p>
          <a:p>
            <a:pPr marL="914400" lvl="1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Ingests raw news text, social media statements, or screenshot images.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2: OCR &amp; Claim Parsing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ai/claim_extractor.py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multimodal/ocr_reader.py )</a:t>
            </a:r>
          </a:p>
          <a:p>
            <a:pPr marL="914400" lvl="1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Extracts embedded text via OCR and isolates unambiguous, verifiable factual claims.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3: Real-Time Web RAG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retrieval/rag_ranker.py</a:t>
            </a:r>
            <a:r>
              <a:t>,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search_engine.py )</a:t>
            </a:r>
          </a:p>
          <a:p>
            <a:pPr marL="914400" lvl="1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Queries live web sources, filters domain credibility, and ranks top-k authoritative context snippets.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4: AI Cross-Verification (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ai/verifier.py</a:t>
            </a:r>
            <a:r>
              <a:t>)</a:t>
            </a:r>
          </a:p>
          <a:p>
            <a:pPr marL="914400" lvl="1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Evaluates claims against retrieved evidence snippets using an LLM reasoning engine.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5: Verdict &amp; Explanation Dashboard</a:t>
            </a:r>
          </a:p>
          <a:p>
            <a:pPr marL="914400" lvl="1" indent="-317500">
              <a:spcBef>
                <a:spcPts val="1200"/>
              </a:spcBef>
              <a:buSzPct val="100000"/>
              <a:buFont typeface="Times Roman"/>
              <a:buChar char="◦"/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Generates a final classification (</a:t>
            </a:r>
            <a:r>
              <a:rPr i="1"/>
              <a:t>True / Fake / Misleading</a:t>
            </a:r>
            <a:r>
              <a:t>), confidence score, and clear step-by-step reasoning.</a:t>
            </a:r>
          </a:p>
        </p:txBody>
      </p:sp>
      <p:pic>
        <p:nvPicPr>
          <p:cNvPr id="12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801971"/>
            <a:ext cx="7216713" cy="38461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" y="0"/>
            <a:ext cx="1456709" cy="109537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EA79FC-0FD7-626F-333D-31AB16C7F5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58" y="1655860"/>
            <a:ext cx="7651924" cy="425447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24" name="Rectangle 9"/>
          <p:cNvSpPr/>
          <p:nvPr/>
        </p:nvSpPr>
        <p:spPr>
          <a:xfrm>
            <a:off x="0" y="6287296"/>
            <a:ext cx="12192000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2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126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27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1. Feasibility Analysis (Technical &amp; Operational)…"/>
          <p:cNvSpPr txBox="1"/>
          <p:nvPr/>
        </p:nvSpPr>
        <p:spPr>
          <a:xfrm>
            <a:off x="305591" y="1086736"/>
            <a:ext cx="4631691" cy="4001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1500"/>
              </a:spcBef>
              <a:defRPr sz="16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1. Feasibility Analysis (Technical &amp; Operational)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Lightweight &amp; Modular Tech Stack:</a:t>
            </a:r>
            <a:r>
              <a:rPr b="0" dirty="0"/>
              <a:t> Built with </a:t>
            </a:r>
            <a:r>
              <a:rPr dirty="0" err="1"/>
              <a:t>FastAPI</a:t>
            </a:r>
            <a:r>
              <a:rPr b="0" dirty="0"/>
              <a:t> (asynchronous backend) and </a:t>
            </a:r>
            <a:r>
              <a:rPr lang="en-US" b="0" dirty="0"/>
              <a:t>Next.js + Tailwind</a:t>
            </a:r>
            <a:r>
              <a:rPr b="0" dirty="0"/>
              <a:t> (interactive frontend) for low resource overhead and swift execution.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Real-Time Dynamic RAG:</a:t>
            </a:r>
            <a:r>
              <a:rPr b="0" dirty="0"/>
              <a:t> Leverages live web retrieval (</a:t>
            </a:r>
            <a:r>
              <a:rPr b="0" dirty="0">
                <a:latin typeface="Courier"/>
                <a:ea typeface="Courier"/>
                <a:cs typeface="Courier"/>
                <a:sym typeface="Courier"/>
              </a:rPr>
              <a:t>search_engine.py</a:t>
            </a:r>
            <a:r>
              <a:rPr b="0" dirty="0"/>
              <a:t>) and context-aware ranking (</a:t>
            </a:r>
            <a:r>
              <a:rPr b="0" dirty="0">
                <a:latin typeface="Courier"/>
                <a:ea typeface="Courier"/>
                <a:cs typeface="Courier"/>
                <a:sym typeface="Courier"/>
              </a:rPr>
              <a:t>rag_ranker.py</a:t>
            </a:r>
            <a:r>
              <a:rPr b="0" dirty="0"/>
              <a:t>) instead of relying on expensive, static model fine-tuning.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6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Zero-Setup Local Deployment:</a:t>
            </a:r>
            <a:r>
              <a:rPr b="0" dirty="0"/>
              <a:t> Packaged with a single-click launch script (</a:t>
            </a:r>
            <a:r>
              <a:rPr b="0" dirty="0">
                <a:latin typeface="Courier"/>
                <a:ea typeface="Courier"/>
                <a:cs typeface="Courier"/>
                <a:sym typeface="Courier"/>
              </a:rPr>
              <a:t>Truth_Intelligence.bat</a:t>
            </a:r>
            <a:r>
              <a:rPr b="0" dirty="0"/>
              <a:t>) and Docker orchestration (</a:t>
            </a:r>
            <a:r>
              <a:rPr b="0" dirty="0">
                <a:latin typeface="Courier"/>
                <a:ea typeface="Courier"/>
                <a:cs typeface="Courier"/>
                <a:sym typeface="Courier"/>
              </a:rPr>
              <a:t>docker-</a:t>
            </a:r>
            <a:r>
              <a:rPr b="0" dirty="0" err="1">
                <a:latin typeface="Courier"/>
                <a:ea typeface="Courier"/>
                <a:cs typeface="Courier"/>
                <a:sym typeface="Courier"/>
              </a:rPr>
              <a:t>compose.yml</a:t>
            </a:r>
            <a:r>
              <a:rPr b="0" dirty="0"/>
              <a:t>) for seamless cross-platform deployment.</a:t>
            </a:r>
          </a:p>
        </p:txBody>
      </p:sp>
      <p:sp>
        <p:nvSpPr>
          <p:cNvPr id="129" name="2. Potential Challenges &amp; Risk Mitigation"/>
          <p:cNvSpPr txBox="1"/>
          <p:nvPr/>
        </p:nvSpPr>
        <p:spPr>
          <a:xfrm>
            <a:off x="6682978" y="1103455"/>
            <a:ext cx="3716493" cy="332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6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2. Potential Challenges &amp; Risk Mitigation</a:t>
            </a:r>
          </a:p>
        </p:txBody>
      </p:sp>
      <p:pic>
        <p:nvPicPr>
          <p:cNvPr id="130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551" y="1475813"/>
            <a:ext cx="6971349" cy="327202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3. Viability &amp; Long-Term Sustainability…"/>
          <p:cNvSpPr txBox="1"/>
          <p:nvPr/>
        </p:nvSpPr>
        <p:spPr>
          <a:xfrm>
            <a:off x="927522" y="5159809"/>
            <a:ext cx="10336957" cy="980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1500"/>
              </a:spcBef>
              <a:defRPr sz="14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3. Viability &amp; Long-Term Sustainability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Cost-Effective Infrastructure:</a:t>
            </a:r>
            <a:r>
              <a:rPr b="0"/>
              <a:t> Uses open search connectors and local inference pipelines, eliminating recurring proprietary database overhead.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2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Continuous Quality Assurance:</a:t>
            </a:r>
            <a:r>
              <a:rPr b="0"/>
              <a:t> Built-in benchmarking harness ensures performance and latency can be tracked and scaled systematically.</a:t>
            </a:r>
          </a:p>
        </p:txBody>
      </p:sp>
      <p:pic>
        <p:nvPicPr>
          <p:cNvPr id="13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" y="8550"/>
            <a:ext cx="1370625" cy="10306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35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3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IMPACT AND BENEFITS</a:t>
            </a:r>
          </a:p>
        </p:txBody>
      </p:sp>
      <p:sp>
        <p:nvSpPr>
          <p:cNvPr id="137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138" name="Picture 10" descr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1. Potential Impact on Target Audience…"/>
          <p:cNvSpPr txBox="1"/>
          <p:nvPr/>
        </p:nvSpPr>
        <p:spPr>
          <a:xfrm>
            <a:off x="356022" y="1192355"/>
            <a:ext cx="3925014" cy="350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1500"/>
              </a:spcBef>
              <a:defRPr sz="12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1. Potential Impact on Target Audience 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General Public &amp; Social Media Consumers:</a:t>
            </a:r>
            <a:r>
              <a:rPr b="0"/>
              <a:t> Enables instant debunking of viral text claims and screenshot-based rumors directly through an interactive interface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frontend/app.py</a:t>
            </a:r>
            <a:r>
              <a:rPr b="0"/>
              <a:t>).</a:t>
            </a:r>
          </a:p>
          <a:p>
            <a:pPr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Journalists, Fact-Checkers &amp; Media Rooms:</a:t>
            </a:r>
            <a:r>
              <a:rPr b="0"/>
              <a:t> Accelerates investigation workflows by automating evidence gathering via live search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retrieval/search_engine.py</a:t>
            </a:r>
            <a:r>
              <a:rPr b="0"/>
              <a:t>) and providing step-by-step AI reasoning.</a:t>
            </a:r>
          </a:p>
          <a:p>
            <a:pPr>
              <a:spcBef>
                <a:spcPts val="1200"/>
              </a:spcBef>
              <a:defRPr sz="1100">
                <a:latin typeface="Times Roman"/>
                <a:ea typeface="Times Roman"/>
                <a:cs typeface="Times Roman"/>
                <a:sym typeface="Times Roman"/>
              </a:defRPr>
            </a:pPr>
            <a:endParaRPr b="0"/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1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Digital Platforms &amp; Community Moderators:</a:t>
            </a:r>
            <a:r>
              <a:rPr b="0"/>
              <a:t> Provides a containerized, API-driven backend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backend/main.py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Dockerfile.backend</a:t>
            </a:r>
            <a:r>
              <a:rPr b="0"/>
              <a:t>) for automated content moderation at scale.</a:t>
            </a:r>
            <a:br>
              <a:rPr b="0"/>
            </a:br>
            <a:endParaRPr b="0"/>
          </a:p>
        </p:txBody>
      </p:sp>
      <p:pic>
        <p:nvPicPr>
          <p:cNvPr id="140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66" y="1200436"/>
            <a:ext cx="7474061" cy="3310703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2. Core Benefits of the Solution…"/>
          <p:cNvSpPr txBox="1"/>
          <p:nvPr/>
        </p:nvSpPr>
        <p:spPr>
          <a:xfrm>
            <a:off x="651323" y="4608119"/>
            <a:ext cx="11197753" cy="1869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spcBef>
                <a:spcPts val="1500"/>
              </a:spcBef>
              <a:defRPr sz="1200" b="1" u="sng">
                <a:latin typeface="Times Roman"/>
                <a:ea typeface="Times Roman"/>
                <a:cs typeface="Times Roman"/>
                <a:sym typeface="Times Roman"/>
              </a:defRPr>
            </a:pPr>
            <a:r>
              <a:t>2. Core Benefits of the Solution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Social Benefit (Combating Digital Misinformation):</a:t>
            </a:r>
            <a:r>
              <a:rPr b="0"/>
              <a:t> Curbs the viral spread of fake news, panic-inducing rumors, and deep-text fabrications with explainable AI verdicts and confidence scoring.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Economic &amp; Operational Benefit (Zero-Cost Verification):</a:t>
            </a:r>
            <a:r>
              <a:rPr b="0"/>
              <a:t> Replaces expensive manual research and costly proprietary subscriptions with open, automated RAG pipelines and custom ranking algorithms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retrieval/rag_ranker.py</a:t>
            </a:r>
            <a:r>
              <a:rPr b="0"/>
              <a:t>, 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retrieval/source_ranker.py</a:t>
            </a:r>
            <a:r>
              <a:rPr b="0"/>
              <a:t>).</a:t>
            </a:r>
          </a:p>
          <a:p>
            <a:pPr marL="457200" indent="-317500">
              <a:spcBef>
                <a:spcPts val="1200"/>
              </a:spcBef>
              <a:buSzPct val="100000"/>
              <a:buFont typeface="Times Roman"/>
              <a:buChar char="•"/>
              <a:defRPr sz="1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Technical &amp; Scalability Benefit (Measurable Reliability):</a:t>
            </a:r>
            <a:r>
              <a:rPr b="0"/>
              <a:t> Ensures benchmarked precision and systematic quality tracking via an automated evaluation harness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evaluation/run_benchmark.py</a:t>
            </a:r>
            <a:r>
              <a:rPr b="0"/>
              <a:t>).</a:t>
            </a:r>
          </a:p>
          <a:p>
            <a:pPr marL="404282" indent="-264582">
              <a:spcBef>
                <a:spcPts val="1200"/>
              </a:spcBef>
              <a:buSzPct val="100000"/>
              <a:buFont typeface="Times Roman"/>
              <a:buChar char="•"/>
              <a:defRPr sz="10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Deployment Benefit (Rapid Adoption):</a:t>
            </a:r>
            <a:r>
              <a:rPr b="0"/>
              <a:t> Delivers zero-barrier onboarding through one-click local launch scripts (</a:t>
            </a:r>
            <a:r>
              <a:rPr b="0">
                <a:latin typeface="Courier"/>
                <a:ea typeface="Courier"/>
                <a:cs typeface="Courier"/>
                <a:sym typeface="Courier"/>
              </a:rPr>
              <a:t>Truth_Intelligence.bat</a:t>
            </a:r>
            <a:r>
              <a:rPr b="0"/>
              <a:t>) and Docker orchestration.</a:t>
            </a:r>
            <a:br>
              <a:rPr b="0"/>
            </a:br>
            <a:endParaRPr b="0"/>
          </a:p>
        </p:txBody>
      </p:sp>
      <p:pic>
        <p:nvPicPr>
          <p:cNvPr id="14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732" y="0"/>
            <a:ext cx="1456708" cy="10953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Footer Placeholder 6"/>
          <p:cNvSpPr txBox="1"/>
          <p:nvPr/>
        </p:nvSpPr>
        <p:spPr>
          <a:xfrm>
            <a:off x="4693920" y="6404296"/>
            <a:ext cx="31125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45" name="Rectangle 9"/>
          <p:cNvSpPr/>
          <p:nvPr/>
        </p:nvSpPr>
        <p:spPr>
          <a:xfrm>
            <a:off x="-3" y="6354762"/>
            <a:ext cx="12192005" cy="503241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46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RESEARCH  AND REFERENCES</a:t>
            </a:r>
          </a:p>
        </p:txBody>
      </p:sp>
      <p:sp>
        <p:nvSpPr>
          <p:cNvPr id="147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148" name="Picture 11" descr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085" y="1500"/>
            <a:ext cx="2249854" cy="1062337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1. Core Research Foundations &amp; Technical Pillars…"/>
          <p:cNvSpPr txBox="1"/>
          <p:nvPr/>
        </p:nvSpPr>
        <p:spPr>
          <a:xfrm>
            <a:off x="330622" y="1116156"/>
            <a:ext cx="5913548" cy="5006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u="sng"/>
            </a:pPr>
            <a:r>
              <a:t>1. Core Research Foundations &amp; Technical Pillars</a:t>
            </a:r>
          </a:p>
          <a:p>
            <a:pPr>
              <a:defRPr b="1" u="sng"/>
            </a:pPr>
            <a:endParaRPr/>
          </a:p>
          <a:p>
            <a:pPr marL="180472" indent="-180472">
              <a:buSzPct val="100000"/>
              <a:buChar char="•"/>
            </a:pPr>
            <a:r>
              <a:t>Retrieval-Augmented Generation (RAG) &amp; Evidence Ranking: Grounded in research on real-time evidence retrieval and dynamic semantic re-ranking (retrieval/rag_ranker.py, retrieval/source_ranker.py) to eliminate AI hallucinations.  </a:t>
            </a:r>
          </a:p>
          <a:p>
            <a:pPr marL="180472" indent="-180472">
              <a:buSzPct val="100000"/>
              <a:buChar char="•"/>
            </a:pPr>
            <a:endParaRPr/>
          </a:p>
          <a:p>
            <a:pPr marL="180472" indent="-180472">
              <a:buSzPct val="100000"/>
              <a:buChar char="•"/>
            </a:pPr>
            <a:r>
              <a:t>Multi-Modal Claim Parsing &amp; OCR: Implements computational linguistic extraction and computer-vision OCR pipelines (multimodal/ocr_reader.py, ai/claim_extractor.py) for multi-format claim isolation.  </a:t>
            </a:r>
          </a:p>
          <a:p>
            <a:pPr marL="180472" indent="-180472">
              <a:buSzPct val="100000"/>
              <a:buChar char="•"/>
            </a:pPr>
            <a:endParaRPr/>
          </a:p>
          <a:p>
            <a:pPr marL="180472" indent="-180472">
              <a:buSzPct val="100000"/>
              <a:buChar char="•"/>
            </a:pPr>
            <a:r>
              <a:t>Automated Fact-Checking Benchmarking: Adopts standardized empirical evaluation methodology  (evaluation/run_benchmark.py) to score precision, recall, and confidence reliability against curated claim sets      (tests/test_claims.json).  </a:t>
            </a:r>
          </a:p>
        </p:txBody>
      </p:sp>
      <p:sp>
        <p:nvSpPr>
          <p:cNvPr id="150" name="2. Key Code References &amp; Open Frameworks…"/>
          <p:cNvSpPr txBox="1"/>
          <p:nvPr/>
        </p:nvSpPr>
        <p:spPr>
          <a:xfrm>
            <a:off x="6452022" y="1103456"/>
            <a:ext cx="5522790" cy="4801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algn="ctr">
              <a:defRPr b="1" u="sng"/>
            </a:pPr>
            <a:r>
              <a:rPr dirty="0"/>
              <a:t>2. Key Code References &amp; Open Frameworks</a:t>
            </a:r>
          </a:p>
          <a:p>
            <a:pPr>
              <a:defRPr b="1" u="sng"/>
            </a:pPr>
            <a:endParaRPr dirty="0"/>
          </a:p>
          <a:p>
            <a:pPr marL="180472" indent="-180472">
              <a:buSzPct val="100000"/>
              <a:buChar char="•"/>
            </a:pPr>
            <a:r>
              <a:rPr dirty="0"/>
              <a:t>Source Code Repository: [github.com/Aaditya-coding/SIH-Phase-1](https://github.com/Aaditya-coding/SIH-Phase-1) (Truth Intelligence Core Engine).  </a:t>
            </a:r>
          </a:p>
          <a:p>
            <a:pPr marL="180472" indent="-180472">
              <a:buSzPct val="100000"/>
              <a:buChar char="•"/>
            </a:pPr>
            <a:endParaRPr dirty="0"/>
          </a:p>
          <a:p>
            <a:pPr marL="180472" indent="-180472">
              <a:buSzPct val="100000"/>
              <a:buChar char="•"/>
            </a:pPr>
            <a:r>
              <a:rPr dirty="0"/>
              <a:t>Backend &amp; API Architecture: </a:t>
            </a:r>
            <a:r>
              <a:rPr lang="en-US" dirty="0"/>
              <a:t>Event-Driven, Asynchronous Worker Model, </a:t>
            </a:r>
            <a:r>
              <a:rPr lang="en-US" dirty="0" err="1"/>
              <a:t>FastApi</a:t>
            </a:r>
            <a:r>
              <a:rPr lang="en-US" dirty="0"/>
              <a:t>, Redis, Celery, </a:t>
            </a:r>
            <a:r>
              <a:rPr lang="en-US" dirty="0" err="1"/>
              <a:t>Qdrant</a:t>
            </a:r>
            <a:r>
              <a:rPr lang="en-US" dirty="0"/>
              <a:t> and Next.js</a:t>
            </a:r>
            <a:r>
              <a:rPr dirty="0"/>
              <a:t> (backend/main.py, docs/api.md).  </a:t>
            </a:r>
          </a:p>
          <a:p>
            <a:pPr marL="180472" indent="-180472">
              <a:buSzPct val="100000"/>
              <a:buChar char="•"/>
            </a:pPr>
            <a:endParaRPr dirty="0"/>
          </a:p>
          <a:p>
            <a:pPr marL="180472" indent="-180472">
              <a:buSzPct val="100000"/>
              <a:buChar char="•"/>
            </a:pPr>
            <a:r>
              <a:rPr dirty="0"/>
              <a:t>Frontend &amp; Interactivity: </a:t>
            </a:r>
            <a:r>
              <a:rPr lang="en-US" dirty="0"/>
              <a:t>Next.js, TypeScript, Tailwind CSS, Clerk Auth</a:t>
            </a:r>
            <a:r>
              <a:rPr dirty="0"/>
              <a:t> (</a:t>
            </a:r>
            <a:r>
              <a:rPr lang="en-US" dirty="0"/>
              <a:t>web-frontend</a:t>
            </a:r>
            <a:r>
              <a:rPr dirty="0"/>
              <a:t>).  </a:t>
            </a:r>
          </a:p>
          <a:p>
            <a:pPr marL="180472" indent="-180472">
              <a:buSzPct val="100000"/>
              <a:buChar char="•"/>
            </a:pPr>
            <a:endParaRPr dirty="0"/>
          </a:p>
          <a:p>
            <a:pPr marL="180472" indent="-180472">
              <a:buSzPct val="100000"/>
              <a:buChar char="•"/>
            </a:pPr>
            <a:r>
              <a:rPr dirty="0"/>
              <a:t>Search &amp; Web Connectors: DuckDuckGo Search API &amp; custom search rankers</a:t>
            </a:r>
            <a:r>
              <a:rPr lang="en-US" dirty="0"/>
              <a:t>, Google Fact Check Tools API, Web Search Connector, Wikipedia/Reference API</a:t>
            </a:r>
            <a:r>
              <a:rPr dirty="0"/>
              <a:t> (retrieval/search_engine.py).</a:t>
            </a:r>
          </a:p>
        </p:txBody>
      </p:sp>
      <p:pic>
        <p:nvPicPr>
          <p:cNvPr id="15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" y="0"/>
            <a:ext cx="1416765" cy="10653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1014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</vt:lpstr>
      <vt:lpstr>Times Roman</vt:lpstr>
      <vt:lpstr>TradeGothic</vt:lpstr>
      <vt:lpstr>Office Theme</vt:lpstr>
      <vt:lpstr>SMART INDIA HACKATHON 2026</vt:lpstr>
      <vt:lpstr> TRUTH INTELLIGENCE – Automated Multi-Modal Fact-Checking Engine 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Aditya Vyas</dc:creator>
  <cp:lastModifiedBy>Aditya Vyas</cp:lastModifiedBy>
  <cp:revision>3</cp:revision>
  <dcterms:modified xsi:type="dcterms:W3CDTF">2026-09-02T12:28:31Z</dcterms:modified>
</cp:coreProperties>
</file>